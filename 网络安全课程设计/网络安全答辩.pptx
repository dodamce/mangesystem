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70" r:id="rId13"/>
    <p:sldId id="269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4" r:id="rId25"/>
    <p:sldId id="296" r:id="rId26"/>
    <p:sldId id="282" r:id="rId27"/>
    <p:sldId id="283" r:id="rId28"/>
    <p:sldId id="285" r:id="rId29"/>
    <p:sldId id="286" r:id="rId30"/>
    <p:sldId id="287" r:id="rId31"/>
    <p:sldId id="288" r:id="rId32"/>
    <p:sldId id="290" r:id="rId33"/>
    <p:sldId id="291" r:id="rId34"/>
    <p:sldId id="292" r:id="rId35"/>
    <p:sldId id="293" r:id="rId36"/>
    <p:sldId id="294" r:id="rId37"/>
    <p:sldId id="295" r:id="rId38"/>
    <p:sldId id="289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90133-3E0D-07D3-7444-7AC2FA456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D73566-6CE0-52E8-0672-1067D275C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729FB3-DFB2-708B-2454-B773BB474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CE021-3BE3-46C3-E991-E254F8EDF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976FFC-253E-CE45-C0E5-5CB534B3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4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C57E5-7108-9813-489C-DBDCF529B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68801-1C50-4DEA-DD93-8951B6B46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CBCC18-94FB-60B1-AB9A-FA651B86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369A5E-B8E5-0199-CC06-4FC3AE849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1B39DA-6998-82D6-9842-BA057163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42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5A16F-7B5F-1D26-EB4F-6E41B6E6F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AAF369-2EB6-64EF-5FCF-5D1038E41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6BA7E4-7B4D-36C0-7D8B-E3F20BE83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2F6542-7CC1-A7B0-69D9-974B2C55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BC8756-2EBD-A3D1-C39C-0CC41CA53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95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B58C59-1BDE-1A85-5C09-CAA152CE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A1BACF-DC41-7F51-28B6-3CBF9997F6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3F3F70-0A14-3FFA-EC10-E526F58FF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CD96E5-ACFF-268C-AE9B-C569FC7F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DEEB44-FC1E-FAB2-AF16-5283BD3C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8BE8E9-CE09-8A64-4DE3-AF559E00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82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49BA80-D5E6-3252-863A-EC08D275B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753AB7-F698-1960-858B-A94ED1FFE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3AECCA-65AD-EA5B-5F09-6CE3D3D6D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5B4650-F15F-AC2E-D440-D66FE6348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43BAB8-663D-CB43-8CDC-10D8070B4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0360A7-4877-40D3-FF88-C3962E5E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FB6BE7-C0AD-F435-3963-6F9B73A8E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A8CFA2-822E-8C5E-4254-2FFA43BA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67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73BDC-6AE4-FFBA-1518-970053B8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222B1D-25BC-CBFA-F47B-B7889A293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229392-2DC4-FADD-D24C-60906E3B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BB0FFA-E290-24B4-91E3-70A46820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963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C8DEC7-9BEC-8109-816F-F7BB3235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B27EDB-8617-85A1-42D6-5E1BD544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91A49B-8E39-0203-FFA7-F5509D025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38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64060-082A-D5E4-D2AF-A2DB52455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8FFA35-95C3-A982-FCCC-4C0DBF3F1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E8134E-7263-CDD9-6EA9-D67544092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074646-6450-A5AA-9E92-1947F393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E1B630-F07A-882A-BC39-0FD92D04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8D0647-B542-4167-F3EA-3EDBE2C2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73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9E4D5-B1B1-B5D9-0C02-F0B4BC65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D71D92-6801-F21F-497C-AC2448523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04ACA7-CDF8-8FBC-83EF-52D54711C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17F8EF-20EB-BF6E-9F31-23E0AF639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2E0DA1-F99B-4A1A-811B-254B8698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0A4695-671C-0AE0-8A3E-5539CAC1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64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743DAB-7037-BCC7-9E43-E4125A735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94F072-2049-110F-014B-0952CEA2D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45CB9-4AB9-9AAF-35C6-B3BC9B063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1F71A6-5C49-BD9A-3816-F1BB25F9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311710-D0E0-E194-DC57-6479F108B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296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D7BCD6-F928-C136-64B1-C3F5F9FB8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DC438B-C8F1-DB19-D32E-6C5834933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9D8B4E-5B16-0ED1-DCA6-57BB89DC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280A39-0B2A-AE52-88CF-6645818E9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C0AFD1-E99A-EC99-F95C-D1A52072E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24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50D0D4-964C-9377-BEA8-7FDBD356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30F61F-89CB-5C4E-4D2B-09AA3DFC1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21E09D-4D8A-1D9D-4381-F04AC3856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AA7B-4F1A-4388-9A67-1DB9CA3E6EB1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D11188-028B-CDBF-7295-AD70671BD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3F83C4-5F08-7ACB-CD96-5A696C33D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38B8D-D838-4D88-B870-8A174315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606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D9763-A704-62D4-D455-D6032987BC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网络安全课设答辩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9B0EDA-BEE0-3A0A-2DC2-6A950340D0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62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9361D-A77E-C6DF-B620-1753152FC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需求列表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5EF96DD5-B57D-D347-1FA5-39789B5CC4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412798"/>
              </p:ext>
            </p:extLst>
          </p:nvPr>
        </p:nvGraphicFramePr>
        <p:xfrm>
          <a:off x="924339" y="1500809"/>
          <a:ext cx="10853531" cy="5118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0649">
                  <a:extLst>
                    <a:ext uri="{9D8B030D-6E8A-4147-A177-3AD203B41FA5}">
                      <a16:colId xmlns:a16="http://schemas.microsoft.com/office/drawing/2014/main" val="51746346"/>
                    </a:ext>
                  </a:extLst>
                </a:gridCol>
                <a:gridCol w="7892882">
                  <a:extLst>
                    <a:ext uri="{9D8B030D-6E8A-4147-A177-3AD203B41FA5}">
                      <a16:colId xmlns:a16="http://schemas.microsoft.com/office/drawing/2014/main" val="3991815179"/>
                    </a:ext>
                  </a:extLst>
                </a:gridCol>
              </a:tblGrid>
              <a:tr h="257774"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</a:rPr>
                        <a:t>序号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050" kern="100">
                          <a:effectLst/>
                        </a:rPr>
                        <a:t>功能模块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64751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前台和后台分离部署 √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60602933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分布式缓存×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17101231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前端登录对密码进行非对称数据加密，防止中间网络窃取 √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89017907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kern="100">
                          <a:effectLst/>
                        </a:rPr>
                        <a:t>IP </a:t>
                      </a:r>
                      <a:r>
                        <a:rPr lang="zh-CN" sz="1100" kern="100">
                          <a:effectLst/>
                        </a:rPr>
                        <a:t>登录密码错误次数限制，冻结某个</a:t>
                      </a:r>
                      <a:r>
                        <a:rPr lang="en-US" sz="1100" kern="100">
                          <a:effectLst/>
                        </a:rPr>
                        <a:t> IP </a:t>
                      </a:r>
                      <a:r>
                        <a:rPr lang="zh-CN" sz="1100" kern="100">
                          <a:effectLst/>
                        </a:rPr>
                        <a:t>登录时间√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6731170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密码失效时长配置，失效后续重新设置新的密码√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982461153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6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账号登录密码次数错误，冻结时间设置√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21632499"/>
                  </a:ext>
                </a:extLst>
              </a:tr>
              <a:tr h="810146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7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用户登录成功后，在登录成功页面会显示当前登录的时间、</a:t>
                      </a:r>
                      <a:r>
                        <a:rPr lang="en-US" sz="1100" kern="100">
                          <a:effectLst/>
                        </a:rPr>
                        <a:t>IP</a:t>
                      </a:r>
                      <a:r>
                        <a:rPr lang="zh-CN" sz="1100" kern="100">
                          <a:effectLst/>
                        </a:rPr>
                        <a:t>地址、浏览器等信息，以及上一次登录的时间，</a:t>
                      </a:r>
                      <a:r>
                        <a:rPr lang="en-US" sz="1100" kern="100">
                          <a:effectLst/>
                        </a:rPr>
                        <a:t>IP</a:t>
                      </a:r>
                      <a:r>
                        <a:rPr lang="zh-CN" sz="1100" kern="100">
                          <a:effectLst/>
                        </a:rPr>
                        <a:t>地址和浏览器信息。√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88765229"/>
                  </a:ext>
                </a:extLst>
              </a:tr>
              <a:tr h="540098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8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 dirty="0">
                          <a:effectLst/>
                        </a:rPr>
                        <a:t>用户登录</a:t>
                      </a:r>
                      <a:r>
                        <a:rPr lang="en-US" sz="1100" kern="100" dirty="0">
                          <a:effectLst/>
                        </a:rPr>
                        <a:t> IP </a:t>
                      </a:r>
                      <a:r>
                        <a:rPr lang="zh-CN" sz="1100" kern="100" dirty="0">
                          <a:effectLst/>
                        </a:rPr>
                        <a:t>地址</a:t>
                      </a:r>
                      <a:r>
                        <a:rPr lang="en-US" sz="1100" kern="100" dirty="0">
                          <a:effectLst/>
                        </a:rPr>
                        <a:t>/</a:t>
                      </a:r>
                      <a:r>
                        <a:rPr lang="zh-CN" sz="1100" kern="100" dirty="0">
                          <a:effectLst/>
                        </a:rPr>
                        <a:t>操作系统、硬件设备，网络状况等安全数据记录√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4787073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9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后台允许登录的</a:t>
                      </a:r>
                      <a:r>
                        <a:rPr lang="en-US" sz="1100" kern="100">
                          <a:effectLst/>
                        </a:rPr>
                        <a:t> IP </a:t>
                      </a:r>
                      <a:r>
                        <a:rPr lang="zh-CN" sz="1100" kern="100">
                          <a:effectLst/>
                        </a:rPr>
                        <a:t>白名单配置（未实装）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543607646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10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登录后，闲置固定时间（可配置）自动退出 ×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580894502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11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登录时间点限制 如不能在</a:t>
                      </a:r>
                      <a:r>
                        <a:rPr lang="en-US" sz="1100" kern="100">
                          <a:effectLst/>
                        </a:rPr>
                        <a:t>20</a:t>
                      </a:r>
                      <a:r>
                        <a:rPr lang="zh-CN" sz="1100" kern="100">
                          <a:effectLst/>
                        </a:rPr>
                        <a:t>：</a:t>
                      </a:r>
                      <a:r>
                        <a:rPr lang="en-US" sz="1100" kern="100">
                          <a:effectLst/>
                        </a:rPr>
                        <a:t>00-9</a:t>
                      </a:r>
                      <a:r>
                        <a:rPr lang="zh-CN" sz="1100" kern="100">
                          <a:effectLst/>
                        </a:rPr>
                        <a:t>：</a:t>
                      </a:r>
                      <a:r>
                        <a:rPr lang="en-US" sz="1100" kern="100">
                          <a:effectLst/>
                        </a:rPr>
                        <a:t>00</a:t>
                      </a:r>
                      <a:r>
                        <a:rPr lang="zh-CN" sz="1100" kern="100">
                          <a:effectLst/>
                        </a:rPr>
                        <a:t>√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70187772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12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密码设置时，对简单密码，与旧密码相同等不让设置√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826339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13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单点登录（强迫下线）×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38560673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14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>
                          <a:effectLst/>
                        </a:rPr>
                        <a:t>用户 分级，不同用户对应不同菜单界面 √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46164693"/>
                  </a:ext>
                </a:extLst>
              </a:tr>
              <a:tr h="270049">
                <a:tc>
                  <a:txBody>
                    <a:bodyPr/>
                    <a:lstStyle/>
                    <a:p>
                      <a:pPr algn="just"/>
                      <a:r>
                        <a:rPr lang="en-US" sz="1050" kern="100">
                          <a:effectLst/>
                        </a:rPr>
                        <a:t>15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100" kern="100" dirty="0">
                          <a:effectLst/>
                        </a:rPr>
                        <a:t>用户操作日志√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1052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926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BE2824-B76B-FD50-3A11-D4DEB7C2B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22" y="347870"/>
            <a:ext cx="10687878" cy="582909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dirty="0"/>
              <a:t>此项目沿用软件课程设计企业资源管理系统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前后台分离部署</a:t>
            </a:r>
            <a:endParaRPr lang="en-US" altLang="zh-CN" dirty="0"/>
          </a:p>
          <a:p>
            <a:pPr marL="514350" indent="-51435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前端和后端分别开发，前端开发人员编写前端代码，后端开发人员编写后端代码。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前端代码部署在一个服务器上，后端代码部署在另一个服务器上。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前端通过接口请求后端提供的数据，后端返回数据给前端。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前端根据返回的数据进行页面渲染。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页面地址：</a:t>
            </a:r>
            <a:r>
              <a:rPr lang="en-US" altLang="zh-CN" dirty="0"/>
              <a:t>http://116.204.74.176:8080/MangeSystem/log.html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557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18C79-D914-FA5C-3316-9326BFE0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043" y="427383"/>
            <a:ext cx="10893287" cy="574958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这里使用前后端分离方式部署，后端代码部署到</a:t>
            </a:r>
            <a:r>
              <a:rPr lang="en-US" altLang="zh-CN" dirty="0"/>
              <a:t>CentOS tomcat</a:t>
            </a:r>
            <a:r>
              <a:rPr lang="zh-CN" altLang="en-US" dirty="0"/>
              <a:t>上。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前端通过接口请求后端提供的数据，后端返回数据给前端，前端根据返回的数据进行页面渲染。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后端代码使用</a:t>
            </a:r>
            <a:r>
              <a:rPr lang="en-US" altLang="zh-CN" dirty="0" err="1"/>
              <a:t>manven</a:t>
            </a:r>
            <a:r>
              <a:rPr lang="zh-CN" altLang="en-US" dirty="0"/>
              <a:t>打包成</a:t>
            </a:r>
            <a:r>
              <a:rPr lang="en-US" altLang="zh-CN" dirty="0"/>
              <a:t>war</a:t>
            </a:r>
            <a:r>
              <a:rPr lang="zh-CN" altLang="en-US" dirty="0"/>
              <a:t>包部署到</a:t>
            </a:r>
            <a:r>
              <a:rPr lang="en-US" altLang="zh-CN" dirty="0"/>
              <a:t>tomcat</a:t>
            </a:r>
            <a:r>
              <a:rPr lang="zh-CN" altLang="en-US" dirty="0"/>
              <a:t>上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前端代码通常部署在</a:t>
            </a:r>
            <a:r>
              <a:rPr lang="en-US" altLang="zh-CN" dirty="0"/>
              <a:t>Web</a:t>
            </a:r>
            <a:r>
              <a:rPr lang="zh-CN" altLang="en-US" dirty="0"/>
              <a:t>服务器上，例如</a:t>
            </a:r>
            <a:r>
              <a:rPr lang="en-US" altLang="zh-CN" dirty="0"/>
              <a:t>Apache</a:t>
            </a:r>
            <a:r>
              <a:rPr lang="zh-CN" altLang="en-US" dirty="0"/>
              <a:t>、</a:t>
            </a:r>
            <a:r>
              <a:rPr lang="en-US" altLang="zh-CN" dirty="0"/>
              <a:t>Nginx</a:t>
            </a:r>
            <a:r>
              <a:rPr lang="zh-CN" altLang="en-US" dirty="0"/>
              <a:t>等</a:t>
            </a:r>
            <a:r>
              <a:rPr lang="en-US" altLang="zh-CN" dirty="0"/>
              <a:t>(</a:t>
            </a:r>
            <a:r>
              <a:rPr lang="zh-CN" altLang="en-US" dirty="0"/>
              <a:t>未做</a:t>
            </a:r>
            <a:r>
              <a:rPr lang="en-US" altLang="zh-CN" dirty="0"/>
              <a:t>)</a:t>
            </a:r>
          </a:p>
          <a:p>
            <a:pPr marL="514350" indent="-514350">
              <a:buAutoNum type="arabicPeriod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43EC64-1A62-F0A3-6CE3-FAC7EB290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121" y="2834851"/>
            <a:ext cx="7345017" cy="384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9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7F397-FF52-F8EA-63E0-A86C4EB3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分布式缓存</a:t>
            </a:r>
            <a:r>
              <a:rPr lang="en-US" altLang="zh-CN" dirty="0"/>
              <a:t> (</a:t>
            </a:r>
            <a:r>
              <a:rPr lang="zh-CN" altLang="en-US" dirty="0"/>
              <a:t>未做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A23986-8238-33C1-D276-56F38E434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1690688"/>
            <a:ext cx="10956235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Java</a:t>
            </a:r>
            <a:r>
              <a:rPr lang="zh-CN" altLang="en-US" dirty="0"/>
              <a:t>中，常用的分布式缓存框架有</a:t>
            </a:r>
            <a:r>
              <a:rPr lang="en-US" altLang="zh-CN" dirty="0"/>
              <a:t>Redis</a:t>
            </a:r>
            <a:r>
              <a:rPr lang="zh-CN" altLang="en-US" dirty="0"/>
              <a:t>、</a:t>
            </a:r>
            <a:r>
              <a:rPr lang="en-US" altLang="zh-CN" dirty="0"/>
              <a:t>Memcached</a:t>
            </a:r>
            <a:r>
              <a:rPr lang="zh-CN" altLang="en-US" dirty="0"/>
              <a:t>，</a:t>
            </a:r>
            <a:r>
              <a:rPr lang="en-US" altLang="zh-CN" dirty="0" err="1"/>
              <a:t>Hazelcast</a:t>
            </a:r>
            <a:r>
              <a:rPr lang="zh-CN" altLang="en-US" dirty="0"/>
              <a:t>等。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en-US" altLang="zh-CN" dirty="0"/>
              <a:t>Redis</a:t>
            </a:r>
            <a:r>
              <a:rPr lang="zh-CN" altLang="en-US" dirty="0"/>
              <a:t>，只需要引入对应的</a:t>
            </a:r>
            <a:r>
              <a:rPr lang="en-US" altLang="zh-CN" dirty="0"/>
              <a:t>Maven</a:t>
            </a:r>
            <a:r>
              <a:rPr lang="zh-CN" altLang="en-US" dirty="0"/>
              <a:t>依赖，然后创建</a:t>
            </a:r>
            <a:r>
              <a:rPr lang="en-US" altLang="zh-CN" dirty="0"/>
              <a:t>Redis</a:t>
            </a:r>
            <a:r>
              <a:rPr lang="zh-CN" altLang="en-US" dirty="0"/>
              <a:t>连接池和</a:t>
            </a:r>
            <a:r>
              <a:rPr lang="en-US" altLang="zh-CN" dirty="0"/>
              <a:t>Redis</a:t>
            </a:r>
            <a:r>
              <a:rPr lang="zh-CN" altLang="en-US" dirty="0"/>
              <a:t>客户端即可。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&lt;dependency&gt;</a:t>
            </a:r>
          </a:p>
          <a:p>
            <a:pPr marL="0" indent="0">
              <a:buNone/>
            </a:pPr>
            <a:r>
              <a:rPr lang="en-US" altLang="zh-CN" dirty="0"/>
              <a:t>    &lt;</a:t>
            </a:r>
            <a:r>
              <a:rPr lang="en-US" altLang="zh-CN" dirty="0" err="1"/>
              <a:t>groupId</a:t>
            </a:r>
            <a:r>
              <a:rPr lang="en-US" altLang="zh-CN" dirty="0"/>
              <a:t>&gt;</a:t>
            </a:r>
            <a:r>
              <a:rPr lang="en-US" altLang="zh-CN" dirty="0" err="1"/>
              <a:t>redis.clients</a:t>
            </a:r>
            <a:r>
              <a:rPr lang="en-US" altLang="zh-CN" dirty="0"/>
              <a:t>&lt;/</a:t>
            </a:r>
            <a:r>
              <a:rPr lang="en-US" altLang="zh-CN" dirty="0" err="1"/>
              <a:t>groupId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    &lt;</a:t>
            </a:r>
            <a:r>
              <a:rPr lang="en-US" altLang="zh-CN" dirty="0" err="1"/>
              <a:t>artifactId</a:t>
            </a:r>
            <a:r>
              <a:rPr lang="en-US" altLang="zh-CN" dirty="0"/>
              <a:t>&gt;jedis&lt;/</a:t>
            </a:r>
            <a:r>
              <a:rPr lang="en-US" altLang="zh-CN" dirty="0" err="1"/>
              <a:t>artifactId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    &lt;version&gt;3.6.0&lt;/version&gt;</a:t>
            </a:r>
          </a:p>
          <a:p>
            <a:pPr marL="0" indent="0">
              <a:buNone/>
            </a:pPr>
            <a:r>
              <a:rPr lang="en-US" altLang="zh-CN" dirty="0"/>
              <a:t>&lt;/dependency&gt;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539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0E12B1-D3CF-3A9F-78C6-2BD3973B3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35" y="337930"/>
            <a:ext cx="10608365" cy="583903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// </a:t>
            </a:r>
            <a:r>
              <a:rPr lang="zh-CN" altLang="en-US" dirty="0"/>
              <a:t>创建</a:t>
            </a:r>
            <a:r>
              <a:rPr lang="en-US" altLang="zh-CN" dirty="0"/>
              <a:t>Redis</a:t>
            </a:r>
            <a:r>
              <a:rPr lang="zh-CN" altLang="en-US" dirty="0"/>
              <a:t>连接池</a:t>
            </a:r>
          </a:p>
          <a:p>
            <a:pPr marL="0" indent="0">
              <a:buNone/>
            </a:pPr>
            <a:r>
              <a:rPr lang="en-US" altLang="zh-CN" dirty="0" err="1"/>
              <a:t>JedisPoolConfig</a:t>
            </a:r>
            <a:r>
              <a:rPr lang="en-US" altLang="zh-CN" dirty="0"/>
              <a:t> </a:t>
            </a:r>
            <a:r>
              <a:rPr lang="en-US" altLang="zh-CN" dirty="0" err="1"/>
              <a:t>poolConfig</a:t>
            </a:r>
            <a:r>
              <a:rPr lang="en-US" altLang="zh-CN" dirty="0"/>
              <a:t> = new </a:t>
            </a:r>
            <a:r>
              <a:rPr lang="en-US" altLang="zh-CN" dirty="0" err="1"/>
              <a:t>JedisPoolConfig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r>
              <a:rPr lang="en-US" altLang="zh-CN" dirty="0" err="1"/>
              <a:t>poolConfig.setMaxTotal</a:t>
            </a:r>
            <a:r>
              <a:rPr lang="en-US" altLang="zh-CN" dirty="0"/>
              <a:t>(100);</a:t>
            </a:r>
          </a:p>
          <a:p>
            <a:pPr marL="0" indent="0">
              <a:buNone/>
            </a:pPr>
            <a:r>
              <a:rPr lang="en-US" altLang="zh-CN" dirty="0" err="1"/>
              <a:t>poolConfig.setMaxIdle</a:t>
            </a:r>
            <a:r>
              <a:rPr lang="en-US" altLang="zh-CN" dirty="0"/>
              <a:t>(50);</a:t>
            </a:r>
          </a:p>
          <a:p>
            <a:pPr marL="0" indent="0">
              <a:buNone/>
            </a:pPr>
            <a:r>
              <a:rPr lang="en-US" altLang="zh-CN" dirty="0" err="1"/>
              <a:t>poolConfig.setMinIdle</a:t>
            </a:r>
            <a:r>
              <a:rPr lang="en-US" altLang="zh-CN" dirty="0"/>
              <a:t>(10);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JedisPool</a:t>
            </a:r>
            <a:r>
              <a:rPr lang="en-US" altLang="zh-CN" dirty="0"/>
              <a:t> </a:t>
            </a:r>
            <a:r>
              <a:rPr lang="en-US" altLang="zh-CN" dirty="0" err="1"/>
              <a:t>jedisPool</a:t>
            </a:r>
            <a:r>
              <a:rPr lang="en-US" altLang="zh-CN" dirty="0"/>
              <a:t> = new </a:t>
            </a:r>
            <a:r>
              <a:rPr lang="en-US" altLang="zh-CN" dirty="0" err="1"/>
              <a:t>JedisPool</a:t>
            </a:r>
            <a:r>
              <a:rPr lang="en-US" altLang="zh-CN" dirty="0"/>
              <a:t>(</a:t>
            </a:r>
            <a:r>
              <a:rPr lang="en-US" altLang="zh-CN" dirty="0" err="1"/>
              <a:t>poolConfig</a:t>
            </a:r>
            <a:r>
              <a:rPr lang="en-US" altLang="zh-CN" dirty="0"/>
              <a:t>, "localhost", 6379);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// </a:t>
            </a:r>
            <a:r>
              <a:rPr lang="zh-CN" altLang="en-US" dirty="0"/>
              <a:t>创建</a:t>
            </a:r>
            <a:r>
              <a:rPr lang="en-US" altLang="zh-CN" dirty="0"/>
              <a:t>Redis</a:t>
            </a:r>
            <a:r>
              <a:rPr lang="zh-CN" altLang="en-US" dirty="0"/>
              <a:t>客户端</a:t>
            </a:r>
          </a:p>
          <a:p>
            <a:pPr marL="0" indent="0">
              <a:buNone/>
            </a:pPr>
            <a:r>
              <a:rPr lang="en-US" altLang="zh-CN" dirty="0"/>
              <a:t>Jedis </a:t>
            </a:r>
            <a:r>
              <a:rPr lang="en-US" altLang="zh-CN" dirty="0" err="1"/>
              <a:t>jedis</a:t>
            </a:r>
            <a:r>
              <a:rPr lang="en-US" altLang="zh-CN" dirty="0"/>
              <a:t> = </a:t>
            </a:r>
            <a:r>
              <a:rPr lang="en-US" altLang="zh-CN" dirty="0" err="1"/>
              <a:t>jedisPool.getResource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// </a:t>
            </a:r>
            <a:r>
              <a:rPr lang="zh-CN" altLang="en-US" dirty="0"/>
              <a:t>执行</a:t>
            </a:r>
            <a:r>
              <a:rPr lang="en-US" altLang="zh-CN" dirty="0"/>
              <a:t>Redis</a:t>
            </a:r>
            <a:r>
              <a:rPr lang="zh-CN" altLang="en-US" dirty="0"/>
              <a:t>命令</a:t>
            </a:r>
          </a:p>
          <a:p>
            <a:pPr marL="0" indent="0">
              <a:buNone/>
            </a:pPr>
            <a:r>
              <a:rPr lang="en-US" altLang="zh-CN" dirty="0" err="1"/>
              <a:t>jedis.set</a:t>
            </a:r>
            <a:r>
              <a:rPr lang="en-US" altLang="zh-CN" dirty="0"/>
              <a:t>("key", "value");</a:t>
            </a:r>
          </a:p>
          <a:p>
            <a:pPr marL="0" indent="0">
              <a:buNone/>
            </a:pPr>
            <a:r>
              <a:rPr lang="en-US" altLang="zh-CN" dirty="0"/>
              <a:t>String value = </a:t>
            </a:r>
            <a:r>
              <a:rPr lang="en-US" altLang="zh-CN" dirty="0" err="1"/>
              <a:t>jedis.get</a:t>
            </a:r>
            <a:r>
              <a:rPr lang="en-US" altLang="zh-CN" dirty="0"/>
              <a:t>("key");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// </a:t>
            </a:r>
            <a:r>
              <a:rPr lang="zh-CN" altLang="en-US" dirty="0"/>
              <a:t>关闭</a:t>
            </a:r>
            <a:r>
              <a:rPr lang="en-US" altLang="zh-CN" dirty="0"/>
              <a:t>Redis</a:t>
            </a:r>
            <a:r>
              <a:rPr lang="zh-CN" altLang="en-US" dirty="0"/>
              <a:t>客户端和连接池</a:t>
            </a:r>
          </a:p>
          <a:p>
            <a:pPr marL="0" indent="0">
              <a:buNone/>
            </a:pPr>
            <a:r>
              <a:rPr lang="en-US" altLang="zh-CN" dirty="0" err="1"/>
              <a:t>jedis.close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r>
              <a:rPr lang="en-US" altLang="zh-CN" dirty="0" err="1"/>
              <a:t>jedisPool.close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9411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10496-3E13-1759-60A9-B1930901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前端登录对密码进行非对称数据加密，防止中间网络窃取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CF827-0133-24E5-25E6-ED2F873C9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前端生成</a:t>
            </a:r>
            <a:r>
              <a:rPr lang="en-US" altLang="zh-CN" dirty="0"/>
              <a:t>RSA</a:t>
            </a:r>
            <a:r>
              <a:rPr lang="zh-CN" altLang="en-US" dirty="0"/>
              <a:t>公钥和私钥，将公钥发送给后端。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用户在前端输入用户名和密码，前端使用</a:t>
            </a:r>
            <a:r>
              <a:rPr lang="en-US" altLang="zh-CN" dirty="0"/>
              <a:t>RSA</a:t>
            </a:r>
            <a:r>
              <a:rPr lang="zh-CN" altLang="en-US" dirty="0"/>
              <a:t>公钥对密码进行加密，然后将加密后的密码发送给后端。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后端使用</a:t>
            </a:r>
            <a:r>
              <a:rPr lang="en-US" altLang="zh-CN" dirty="0"/>
              <a:t>RSA</a:t>
            </a:r>
            <a:r>
              <a:rPr lang="zh-CN" altLang="en-US" dirty="0"/>
              <a:t>私钥对密码进行解密，然后进行验证，如果验证通过则允许用户登录。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后端生成一个随机的</a:t>
            </a:r>
            <a:r>
              <a:rPr lang="en-US" altLang="zh-CN" dirty="0"/>
              <a:t>Token</a:t>
            </a:r>
            <a:r>
              <a:rPr lang="zh-CN" altLang="en-US" dirty="0"/>
              <a:t>，然后使用</a:t>
            </a:r>
            <a:r>
              <a:rPr lang="en-US" altLang="zh-CN" dirty="0"/>
              <a:t>RSA</a:t>
            </a:r>
            <a:r>
              <a:rPr lang="zh-CN" altLang="en-US" dirty="0"/>
              <a:t>公钥加密</a:t>
            </a:r>
            <a:r>
              <a:rPr lang="en-US" altLang="zh-CN" dirty="0"/>
              <a:t>Token</a:t>
            </a:r>
            <a:r>
              <a:rPr lang="zh-CN" altLang="en-US" dirty="0"/>
              <a:t>，将加密后的</a:t>
            </a:r>
            <a:r>
              <a:rPr lang="en-US" altLang="zh-CN" dirty="0"/>
              <a:t>Token</a:t>
            </a:r>
            <a:r>
              <a:rPr lang="zh-CN" altLang="en-US" dirty="0"/>
              <a:t>发送给前端。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en-US" dirty="0"/>
              <a:t>前端使用</a:t>
            </a:r>
            <a:r>
              <a:rPr lang="en-US" altLang="zh-CN" dirty="0"/>
              <a:t>RSA</a:t>
            </a:r>
            <a:r>
              <a:rPr lang="zh-CN" altLang="en-US" dirty="0"/>
              <a:t>私钥对</a:t>
            </a:r>
            <a:r>
              <a:rPr lang="en-US" altLang="zh-CN" dirty="0"/>
              <a:t>Token</a:t>
            </a:r>
            <a:r>
              <a:rPr lang="zh-CN" altLang="en-US" dirty="0"/>
              <a:t>进行解密，然后将</a:t>
            </a:r>
            <a:r>
              <a:rPr lang="en-US" altLang="zh-CN" dirty="0"/>
              <a:t>Token</a:t>
            </a:r>
            <a:r>
              <a:rPr lang="zh-CN" altLang="en-US" dirty="0"/>
              <a:t>存储在本地，用于后续的请求验证。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6.</a:t>
            </a:r>
            <a:r>
              <a:rPr lang="zh-CN" altLang="en-US" dirty="0"/>
              <a:t>用户在后续的请求中携带</a:t>
            </a:r>
            <a:r>
              <a:rPr lang="en-US" altLang="zh-CN" dirty="0"/>
              <a:t>Token</a:t>
            </a:r>
            <a:r>
              <a:rPr lang="zh-CN" altLang="en-US" dirty="0"/>
              <a:t>，后端使用</a:t>
            </a:r>
            <a:r>
              <a:rPr lang="en-US" altLang="zh-CN" dirty="0"/>
              <a:t>RSA</a:t>
            </a:r>
            <a:r>
              <a:rPr lang="zh-CN" altLang="en-US" dirty="0"/>
              <a:t>私钥解密</a:t>
            </a:r>
            <a:r>
              <a:rPr lang="en-US" altLang="zh-CN" dirty="0"/>
              <a:t>Token</a:t>
            </a:r>
            <a:r>
              <a:rPr lang="zh-CN" altLang="en-US" dirty="0"/>
              <a:t>，然后验证</a:t>
            </a:r>
            <a:r>
              <a:rPr lang="en-US" altLang="zh-CN" dirty="0"/>
              <a:t>Token</a:t>
            </a:r>
            <a:r>
              <a:rPr lang="zh-CN" altLang="en-US" dirty="0"/>
              <a:t>是否有效，如果有效则允许请求处理。</a:t>
            </a:r>
          </a:p>
        </p:txBody>
      </p:sp>
    </p:spTree>
    <p:extLst>
      <p:ext uri="{BB962C8B-B14F-4D97-AF65-F5344CB8AC3E}">
        <p14:creationId xmlns:p14="http://schemas.microsoft.com/office/powerpoint/2010/main" val="3892006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4394D2-2420-3E04-5D32-F4CA08175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前端使用</a:t>
            </a:r>
            <a:r>
              <a:rPr lang="en-US" altLang="zh-CN" dirty="0" err="1"/>
              <a:t>CryptoJS</a:t>
            </a:r>
            <a:r>
              <a:rPr lang="zh-CN" altLang="en-US" dirty="0"/>
              <a:t>库进行加密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ACC275-A145-0A47-4649-1C5DB885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4786"/>
            <a:ext cx="11622156" cy="40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0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5D38EDE-6917-9A28-C85E-44448986C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32362" cy="3995530"/>
          </a:xfrm>
        </p:spPr>
      </p:pic>
    </p:spTree>
    <p:extLst>
      <p:ext uri="{BB962C8B-B14F-4D97-AF65-F5344CB8AC3E}">
        <p14:creationId xmlns:p14="http://schemas.microsoft.com/office/powerpoint/2010/main" val="3540586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9FD82B-E61B-D176-DCA6-6D7DBC4A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后端解密：依赖库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&lt;dependency&gt;</a:t>
            </a:r>
          </a:p>
          <a:p>
            <a:pPr marL="0" indent="0">
              <a:buNone/>
            </a:pPr>
            <a:r>
              <a:rPr lang="en-US" altLang="zh-CN" dirty="0"/>
              <a:t>            &lt;</a:t>
            </a:r>
            <a:r>
              <a:rPr lang="en-US" altLang="zh-CN" dirty="0" err="1"/>
              <a:t>groupId</a:t>
            </a:r>
            <a:r>
              <a:rPr lang="en-US" altLang="zh-CN" dirty="0"/>
              <a:t>&gt;commons-codec&lt;/</a:t>
            </a:r>
            <a:r>
              <a:rPr lang="en-US" altLang="zh-CN" dirty="0" err="1"/>
              <a:t>groupId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            &lt;</a:t>
            </a:r>
            <a:r>
              <a:rPr lang="en-US" altLang="zh-CN" dirty="0" err="1"/>
              <a:t>artifactId</a:t>
            </a:r>
            <a:r>
              <a:rPr lang="en-US" altLang="zh-CN" dirty="0"/>
              <a:t>&gt;commons-codec&lt;/</a:t>
            </a:r>
            <a:r>
              <a:rPr lang="en-US" altLang="zh-CN" dirty="0" err="1"/>
              <a:t>artifactId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            &lt;version&gt;1.15&lt;/version&gt;</a:t>
            </a:r>
          </a:p>
          <a:p>
            <a:pPr marL="0" indent="0">
              <a:buNone/>
            </a:pPr>
            <a:r>
              <a:rPr lang="en-US" altLang="zh-CN" dirty="0"/>
              <a:t>&lt;/dependency&gt;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A97DCD-2D8F-5503-1FF1-97DEE042F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272" y="2425150"/>
            <a:ext cx="8735728" cy="443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33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B4038-AF3A-1E2E-15EE-3838DA11D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IP </a:t>
            </a:r>
            <a:r>
              <a:rPr lang="zh-CN" altLang="en-US" dirty="0"/>
              <a:t>登录密码错误次数限制，冻结某个 </a:t>
            </a:r>
            <a:r>
              <a:rPr lang="en-US" altLang="zh-CN" dirty="0"/>
              <a:t>IP </a:t>
            </a:r>
            <a:r>
              <a:rPr lang="zh-CN" altLang="en-US" dirty="0"/>
              <a:t>登录时间</a:t>
            </a:r>
            <a:r>
              <a:rPr lang="en-US" altLang="zh-CN" dirty="0"/>
              <a:t>(</a:t>
            </a:r>
            <a:r>
              <a:rPr lang="zh-CN" altLang="en-US" dirty="0"/>
              <a:t>数据库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93A450-6A04-53FE-6C28-5B03F5515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web.xml</a:t>
            </a:r>
            <a:r>
              <a:rPr lang="zh-CN" altLang="en-US" dirty="0"/>
              <a:t>配置</a:t>
            </a:r>
            <a:r>
              <a:rPr lang="en-US" altLang="zh-CN" dirty="0"/>
              <a:t>Filter</a:t>
            </a:r>
            <a:r>
              <a:rPr lang="zh-CN" altLang="en-US" dirty="0"/>
              <a:t>映射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DAB873-3960-5821-032D-835A87C1B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40" y="2405506"/>
            <a:ext cx="8196328" cy="319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56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8ACC4-283B-39BC-F2B6-38A7BCCD3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377687"/>
            <a:ext cx="10886661" cy="5799276"/>
          </a:xfrm>
        </p:spPr>
        <p:txBody>
          <a:bodyPr/>
          <a:lstStyle/>
          <a:p>
            <a:pPr marL="514350" indent="-514350">
              <a:buAutoNum type="arabicPeriod" startAt="2"/>
            </a:pPr>
            <a:r>
              <a:rPr lang="zh-CN" altLang="en-US" dirty="0"/>
              <a:t>创建</a:t>
            </a:r>
            <a:r>
              <a:rPr lang="en-US" altLang="zh-CN" dirty="0" err="1"/>
              <a:t>LoginFilter</a:t>
            </a:r>
            <a:r>
              <a:rPr lang="zh-CN" altLang="en-US" dirty="0"/>
              <a:t>类，并实现</a:t>
            </a:r>
            <a:r>
              <a:rPr lang="en-US" altLang="zh-CN" dirty="0" err="1"/>
              <a:t>doFilter</a:t>
            </a:r>
            <a:r>
              <a:rPr lang="zh-CN" altLang="en-US" dirty="0"/>
              <a:t>方法</a:t>
            </a:r>
            <a:endParaRPr lang="en-US" altLang="zh-CN" dirty="0"/>
          </a:p>
          <a:p>
            <a:pPr marL="514350" indent="-514350">
              <a:buAutoNum type="arabicPeriod" startAt="2"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6657E5-94B6-BB1E-CDEA-BAD163555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951" y="817403"/>
            <a:ext cx="7166128" cy="566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23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F2C55-7E3F-2253-F325-9154227C0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2" y="357809"/>
            <a:ext cx="11151704" cy="598335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服务器的</a:t>
            </a:r>
            <a:r>
              <a:rPr lang="en-US" altLang="zh-CN" dirty="0"/>
              <a:t>Servlet</a:t>
            </a:r>
            <a:r>
              <a:rPr lang="zh-CN" altLang="en-US" dirty="0"/>
              <a:t>容器将会拦截登录请求，并将其传递给</a:t>
            </a:r>
            <a:r>
              <a:rPr lang="en-US" altLang="zh-CN" dirty="0" err="1"/>
              <a:t>LoginFilter</a:t>
            </a:r>
            <a:r>
              <a:rPr lang="zh-CN" altLang="en-US" dirty="0"/>
              <a:t>过滤器处理。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LoginFilter</a:t>
            </a:r>
            <a:r>
              <a:rPr lang="zh-CN" altLang="en-US" dirty="0"/>
              <a:t>过滤器将会获取客户端的</a:t>
            </a:r>
            <a:r>
              <a:rPr lang="en-US" altLang="zh-CN" dirty="0"/>
              <a:t>IP</a:t>
            </a:r>
            <a:r>
              <a:rPr lang="zh-CN" altLang="en-US" dirty="0"/>
              <a:t>地址，并从</a:t>
            </a:r>
            <a:r>
              <a:rPr lang="en-US" altLang="zh-CN" dirty="0"/>
              <a:t>attempts Map</a:t>
            </a:r>
            <a:r>
              <a:rPr lang="zh-CN" altLang="en-US" dirty="0"/>
              <a:t>中获取该</a:t>
            </a:r>
            <a:r>
              <a:rPr lang="en-US" altLang="zh-CN" dirty="0"/>
              <a:t>IP</a:t>
            </a:r>
            <a:r>
              <a:rPr lang="zh-CN" altLang="en-US" dirty="0"/>
              <a:t>地址的尝试次数。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如果尝试次数超过了最大次数，过滤器将会重定向到锁定页面，否则将会检查用户名和密码是否正确。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如果用户名和密码正确，过滤器将会将该</a:t>
            </a:r>
            <a:r>
              <a:rPr lang="en-US" altLang="zh-CN" dirty="0"/>
              <a:t>IP</a:t>
            </a:r>
            <a:r>
              <a:rPr lang="zh-CN" altLang="en-US" dirty="0"/>
              <a:t>地址的尝试次数重置为</a:t>
            </a:r>
            <a:r>
              <a:rPr lang="en-US" altLang="zh-CN" dirty="0"/>
              <a:t>0</a:t>
            </a:r>
            <a:r>
              <a:rPr lang="zh-CN" altLang="en-US" dirty="0"/>
              <a:t>，并将请求传递给下一个过滤器或</a:t>
            </a:r>
            <a:r>
              <a:rPr lang="en-US" altLang="zh-CN" dirty="0"/>
              <a:t>Servlet</a:t>
            </a:r>
            <a:r>
              <a:rPr lang="zh-CN" altLang="en-US" dirty="0"/>
              <a:t>处理。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这里使用数据库记录用户登录方式来实现限制登录次数</a:t>
            </a:r>
          </a:p>
        </p:txBody>
      </p:sp>
    </p:spTree>
    <p:extLst>
      <p:ext uri="{BB962C8B-B14F-4D97-AF65-F5344CB8AC3E}">
        <p14:creationId xmlns:p14="http://schemas.microsoft.com/office/powerpoint/2010/main" val="4263471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7EEFFE-1ADB-3029-B812-738058072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208722"/>
            <a:ext cx="10956235" cy="5968241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登录时失败调用</a:t>
            </a:r>
            <a:r>
              <a:rPr lang="en-US" altLang="zh-CN" dirty="0" err="1"/>
              <a:t>LogTimeDAO</a:t>
            </a:r>
            <a:r>
              <a:rPr lang="zh-CN" altLang="en-US" dirty="0"/>
              <a:t>，将用户的可登录次数</a:t>
            </a:r>
            <a:r>
              <a:rPr lang="en-US" altLang="zh-CN" dirty="0"/>
              <a:t>-1</a:t>
            </a:r>
            <a:r>
              <a:rPr lang="zh-CN" altLang="en-US" dirty="0"/>
              <a:t>；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登录成功跳转时，将</a:t>
            </a:r>
            <a:r>
              <a:rPr lang="en-US" altLang="zh-CN" dirty="0" err="1"/>
              <a:t>LogTime</a:t>
            </a:r>
            <a:r>
              <a:rPr lang="zh-CN" altLang="en-US" dirty="0"/>
              <a:t>表中用户的可登录次数清空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如果可登录次数为</a:t>
            </a:r>
            <a:r>
              <a:rPr lang="en-US" altLang="zh-CN" dirty="0"/>
              <a:t>0</a:t>
            </a:r>
            <a:r>
              <a:rPr lang="zh-CN" altLang="en-US" dirty="0"/>
              <a:t>，此时将用户插入</a:t>
            </a:r>
            <a:r>
              <a:rPr lang="en-US" altLang="zh-CN" dirty="0" err="1"/>
              <a:t>frozenTable</a:t>
            </a:r>
            <a:r>
              <a:rPr lang="zh-CN" altLang="en-US" dirty="0"/>
              <a:t>中，不允许登录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en-US" altLang="zh-CN" dirty="0" err="1"/>
              <a:t>frozenTable</a:t>
            </a:r>
            <a:r>
              <a:rPr lang="zh-CN" altLang="en-US" dirty="0"/>
              <a:t>使用</a:t>
            </a:r>
            <a:r>
              <a:rPr lang="en-US" altLang="zh-CN" dirty="0"/>
              <a:t>crontab</a:t>
            </a:r>
            <a:r>
              <a:rPr lang="zh-CN" altLang="en-US" dirty="0"/>
              <a:t>命令设置定时任务，每一天清理冻结时间超过</a:t>
            </a:r>
            <a:r>
              <a:rPr lang="en-US" altLang="zh-CN" dirty="0"/>
              <a:t>12</a:t>
            </a:r>
            <a:r>
              <a:rPr lang="zh-CN" altLang="en-US" dirty="0"/>
              <a:t>小时的用户。</a:t>
            </a:r>
            <a:r>
              <a:rPr lang="en-US" altLang="zh-CN" dirty="0"/>
              <a:t>(</a:t>
            </a:r>
            <a:r>
              <a:rPr lang="zh-CN" altLang="en-US" dirty="0"/>
              <a:t>执行</a:t>
            </a:r>
            <a:r>
              <a:rPr lang="en-US" altLang="zh-CN" dirty="0"/>
              <a:t>shell</a:t>
            </a:r>
            <a:r>
              <a:rPr lang="zh-CN" altLang="en-US" dirty="0"/>
              <a:t>脚本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3BB7AF-8D3C-81B7-AC7E-2684D9F3F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5" y="2715187"/>
            <a:ext cx="5571004" cy="381482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B475D7-EC28-F0A7-94A0-C281F6EBA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569" y="2715187"/>
            <a:ext cx="7266322" cy="381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19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F889A0A-F35D-059B-54C6-13BB48991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3169" y="191225"/>
            <a:ext cx="9180128" cy="6137620"/>
          </a:xfrm>
        </p:spPr>
      </p:pic>
    </p:spTree>
    <p:extLst>
      <p:ext uri="{BB962C8B-B14F-4D97-AF65-F5344CB8AC3E}">
        <p14:creationId xmlns:p14="http://schemas.microsoft.com/office/powerpoint/2010/main" val="3528512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08AEE-D629-C52A-D116-48CAAF00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密码失效时长配置，失效后续重新设置新的密码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0C874C-3C19-B043-AB40-A14C507BD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数据库表，在登录成功后，前端向后端发送修改密码请求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后端检查</a:t>
            </a:r>
            <a:r>
              <a:rPr lang="en-US" altLang="zh-CN" dirty="0" err="1"/>
              <a:t>keyvalid</a:t>
            </a:r>
            <a:r>
              <a:rPr lang="zh-CN" altLang="en-US" dirty="0"/>
              <a:t>数据库，如果这个用户的密码过期，直接跳转到更新密码界面</a:t>
            </a:r>
            <a:endParaRPr lang="en-US" altLang="zh-CN" dirty="0"/>
          </a:p>
          <a:p>
            <a:pPr marL="514350" indent="-514350">
              <a:buAutoNum type="arabicPeriod"/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8352DD-AB89-8B0E-58C2-4F76B2746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5798882" cy="26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66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783339D-E115-A8CA-636D-2E04680A9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12191999" cy="61769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前端登录后跳转到</a:t>
            </a:r>
            <a:r>
              <a:rPr lang="en-US" altLang="zh-CN" dirty="0"/>
              <a:t>index.html</a:t>
            </a:r>
            <a:r>
              <a:rPr lang="zh-CN" altLang="en-US" dirty="0"/>
              <a:t>页面，</a:t>
            </a:r>
            <a:r>
              <a:rPr lang="en-US" altLang="zh-CN" dirty="0"/>
              <a:t>index.html</a:t>
            </a:r>
            <a:r>
              <a:rPr lang="zh-CN" altLang="en-US" dirty="0"/>
              <a:t>页面向后端申请，查询密码失效时间，后端代码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72B991F-3A87-8892-E4F4-ADA487843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7" y="1242392"/>
            <a:ext cx="11940206" cy="52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35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45CC9-BFF4-46E7-4241-DD42900F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账号登录密码次数错误，冻结时间设置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C0FB92-5600-7B9B-2351-DB984AD3F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具体操作与第</a:t>
            </a:r>
            <a:r>
              <a:rPr lang="en-US" altLang="zh-CN" dirty="0"/>
              <a:t>4</a:t>
            </a:r>
            <a:r>
              <a:rPr lang="zh-CN" altLang="en-US" dirty="0"/>
              <a:t>步类似，这里省略</a:t>
            </a:r>
          </a:p>
        </p:txBody>
      </p:sp>
    </p:spTree>
    <p:extLst>
      <p:ext uri="{BB962C8B-B14F-4D97-AF65-F5344CB8AC3E}">
        <p14:creationId xmlns:p14="http://schemas.microsoft.com/office/powerpoint/2010/main" val="421633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086ED-35C6-9B24-FFEB-D7CE1390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7,8,15. </a:t>
            </a:r>
            <a:r>
              <a:rPr lang="zh-CN" altLang="en-US" dirty="0"/>
              <a:t>用户登录信息，用户操作信息日志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1D3D87-967C-D196-19ED-F92C35EA9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991" y="1958009"/>
            <a:ext cx="11025809" cy="421895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dirty="0"/>
              <a:t>在登录后，将登录信息中</a:t>
            </a:r>
            <a:r>
              <a:rPr lang="en-US" altLang="zh-CN" dirty="0" err="1"/>
              <a:t>HttpServletRequest</a:t>
            </a:r>
            <a:r>
              <a:rPr lang="zh-CN" altLang="en-US" dirty="0"/>
              <a:t>对象中</a:t>
            </a:r>
            <a:r>
              <a:rPr lang="en-US" altLang="zh-CN" dirty="0" err="1"/>
              <a:t>ip</a:t>
            </a:r>
            <a:r>
              <a:rPr lang="zh-CN" altLang="en-US" dirty="0"/>
              <a:t>地址，浏览器信息，和当前的登录时间，操作系统、硬件设备、写入数据库中</a:t>
            </a:r>
            <a:r>
              <a:rPr lang="en-US" altLang="zh-CN" dirty="0"/>
              <a:t>(HTTP</a:t>
            </a:r>
            <a:r>
              <a:rPr lang="zh-CN" altLang="en-US" dirty="0"/>
              <a:t>中</a:t>
            </a:r>
            <a:r>
              <a:rPr lang="en-US" altLang="zh-CN" dirty="0"/>
              <a:t>) String </a:t>
            </a:r>
            <a:r>
              <a:rPr lang="en-US" altLang="zh-CN" dirty="0" err="1"/>
              <a:t>userAgent</a:t>
            </a:r>
            <a:r>
              <a:rPr lang="en-US" altLang="zh-CN" dirty="0"/>
              <a:t> = </a:t>
            </a:r>
            <a:r>
              <a:rPr lang="en-US" altLang="zh-CN" dirty="0" err="1"/>
              <a:t>request.getHeader</a:t>
            </a:r>
            <a:r>
              <a:rPr lang="en-US" altLang="zh-CN" dirty="0"/>
              <a:t>("User-Agent");</a:t>
            </a:r>
          </a:p>
          <a:p>
            <a:pPr marL="514350" indent="-514350">
              <a:buAutoNum type="arabicPeriod"/>
            </a:pPr>
            <a:r>
              <a:rPr lang="zh-CN" altLang="en-US" dirty="0"/>
              <a:t>前端动态生成链接，让</a:t>
            </a:r>
            <a:r>
              <a:rPr lang="en-US" altLang="zh-CN" dirty="0"/>
              <a:t>root</a:t>
            </a:r>
            <a:r>
              <a:rPr lang="zh-CN" altLang="en-US" dirty="0"/>
              <a:t>用户浏览用户操作日志。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后端</a:t>
            </a:r>
            <a:r>
              <a:rPr lang="en-US" altLang="zh-CN" dirty="0" err="1"/>
              <a:t>manven</a:t>
            </a:r>
            <a:r>
              <a:rPr lang="zh-CN" altLang="en-US" dirty="0"/>
              <a:t>同时引入</a:t>
            </a:r>
            <a:r>
              <a:rPr lang="en-US" altLang="zh-CN" dirty="0"/>
              <a:t>Log4j</a:t>
            </a:r>
            <a:r>
              <a:rPr lang="zh-CN" altLang="en-US" dirty="0"/>
              <a:t>库，将信息写到服务器文件中（未做）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在进行页面跳转时，同时修改信息数据库，将操作信息添加到数据库中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b="0" dirty="0">
                <a:solidFill>
                  <a:schemeClr val="bg2">
                    <a:lumMod val="10000"/>
                  </a:schemeClr>
                </a:solidFill>
                <a:effectLst/>
                <a:latin typeface="ui-monospace"/>
              </a:rPr>
              <a:t>使用</a:t>
            </a:r>
            <a:r>
              <a:rPr lang="en-US" altLang="zh-CN" b="0" dirty="0">
                <a:solidFill>
                  <a:schemeClr val="bg2">
                    <a:lumMod val="10000"/>
                  </a:schemeClr>
                </a:solidFill>
                <a:effectLst/>
                <a:latin typeface="ui-monospace"/>
              </a:rPr>
              <a:t>Speedtest.net API</a:t>
            </a:r>
            <a:r>
              <a:rPr lang="zh-CN" altLang="en-US" b="0" dirty="0">
                <a:solidFill>
                  <a:schemeClr val="bg2">
                    <a:lumMod val="10000"/>
                  </a:schemeClr>
                </a:solidFill>
                <a:effectLst/>
                <a:latin typeface="ui-monospace"/>
              </a:rPr>
              <a:t>（外部）测试网络速度（未做）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305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E57B2E-2A7A-6935-E151-B45C7B073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248478"/>
            <a:ext cx="11105322" cy="592848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数据库定义：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F3294D-39FE-CB32-9F67-8D6484F37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78" y="1015317"/>
            <a:ext cx="9707166" cy="464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523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2511139-BA57-C12F-7CE2-4C9154031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9318" y="243370"/>
            <a:ext cx="9198400" cy="5789682"/>
          </a:xfrm>
        </p:spPr>
      </p:pic>
    </p:spTree>
    <p:extLst>
      <p:ext uri="{BB962C8B-B14F-4D97-AF65-F5344CB8AC3E}">
        <p14:creationId xmlns:p14="http://schemas.microsoft.com/office/powerpoint/2010/main" val="2396035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D63147-409E-6C8C-5734-C8A076402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87" y="327991"/>
            <a:ext cx="10976113" cy="584897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本地测试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E308FC-8926-093A-1FB4-3253A4062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7" y="941722"/>
            <a:ext cx="12122773" cy="558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30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914B7-6C1B-60F8-7D20-71AF79067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</a:t>
            </a:r>
            <a:r>
              <a:rPr lang="zh-CN" altLang="en-US" dirty="0"/>
              <a:t>后台允许登录的 </a:t>
            </a:r>
            <a:r>
              <a:rPr lang="en-US" altLang="zh-CN" dirty="0"/>
              <a:t>IP </a:t>
            </a:r>
            <a:r>
              <a:rPr lang="zh-CN" altLang="en-US" dirty="0"/>
              <a:t>白名单配置（未实装）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59FCA2-C86B-6464-0F93-FBC4007E6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89042"/>
            <a:ext cx="11353800" cy="50689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en-US" altLang="zh-CN" dirty="0"/>
              <a:t>java</a:t>
            </a:r>
            <a:r>
              <a:rPr lang="zh-CN" altLang="en-US" dirty="0"/>
              <a:t> </a:t>
            </a:r>
            <a:r>
              <a:rPr lang="en-US" altLang="zh-CN" dirty="0"/>
              <a:t>Servlet</a:t>
            </a:r>
            <a:r>
              <a:rPr lang="zh-CN" altLang="en-US" dirty="0"/>
              <a:t>的过滤器功能，</a:t>
            </a:r>
            <a:r>
              <a:rPr lang="en-US" altLang="zh-CN" dirty="0"/>
              <a:t> </a:t>
            </a:r>
            <a:r>
              <a:rPr lang="en-US" altLang="zh-CN" dirty="0" err="1"/>
              <a:t>IPFilter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Java </a:t>
            </a:r>
            <a:r>
              <a:rPr lang="zh-CN" altLang="en-US" dirty="0"/>
              <a:t>类，并实现 </a:t>
            </a:r>
            <a:r>
              <a:rPr lang="en-US" altLang="zh-CN" dirty="0"/>
              <a:t>Filter </a:t>
            </a:r>
            <a:r>
              <a:rPr lang="zh-CN" altLang="en-US" dirty="0"/>
              <a:t>接口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这里为了简单，直接使用数据库操作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在登录的时候查询白名单表，只有</a:t>
            </a:r>
            <a:r>
              <a:rPr lang="en-US" altLang="zh-CN" dirty="0" err="1"/>
              <a:t>ip</a:t>
            </a:r>
            <a:r>
              <a:rPr lang="zh-CN" altLang="en-US" dirty="0"/>
              <a:t>在白名单的用户才能登录成功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登录时用户的</a:t>
            </a:r>
            <a:r>
              <a:rPr lang="en-US" altLang="zh-CN" dirty="0" err="1"/>
              <a:t>ip</a:t>
            </a:r>
            <a:r>
              <a:rPr lang="zh-CN" altLang="en-US" dirty="0"/>
              <a:t>在</a:t>
            </a:r>
            <a:r>
              <a:rPr lang="en-US" altLang="zh-CN" dirty="0" err="1"/>
              <a:t>req.getRemoteAddr</a:t>
            </a:r>
            <a:r>
              <a:rPr lang="en-US" altLang="zh-CN" dirty="0"/>
              <a:t>()</a:t>
            </a:r>
            <a:r>
              <a:rPr lang="zh-CN" altLang="en-US" dirty="0"/>
              <a:t>中获取，与数据库对比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656F2B-356F-C25A-441A-DB7A49F6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21" y="2855438"/>
            <a:ext cx="4577232" cy="212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3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57B15-DD2C-05F2-33A5-EBCB7B72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</a:t>
            </a:r>
            <a:r>
              <a:rPr lang="zh-CN" altLang="en-US" dirty="0"/>
              <a:t>登录后，闲置固定时间（可配置）自动退出（未实现）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96995E-FC65-4EC1-1C96-8FCCCEEDE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在前端进行实现。设置一个定时器，当用户登录后开始计时，如果用户在设定的闲置时间内没有进行任何操作，就自动退出登录。</a:t>
            </a:r>
          </a:p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在用户登录时，记录下登录时间。</a:t>
            </a:r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设置一个定时器，设定闲置时间。</a:t>
            </a:r>
          </a:p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在用户进行任何操作时，重置定时器。</a:t>
            </a:r>
          </a:p>
          <a:p>
            <a:pPr marL="0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当定时器时间到达后，向后端发送请求执行退出登录操作。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 </a:t>
            </a:r>
            <a:r>
              <a:rPr lang="zh-CN" altLang="en-US" dirty="0"/>
              <a:t>闲置时间的配置可以单独给用户一个界面进行修改</a:t>
            </a:r>
          </a:p>
        </p:txBody>
      </p:sp>
    </p:spTree>
    <p:extLst>
      <p:ext uri="{BB962C8B-B14F-4D97-AF65-F5344CB8AC3E}">
        <p14:creationId xmlns:p14="http://schemas.microsoft.com/office/powerpoint/2010/main" val="2531060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F3770-3CF4-1EE0-226E-DECF110E6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1FB44E-0157-B0D6-9F0E-543A7EDFD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5AA4EB-803D-33A5-4580-F83D9B7B4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1" y="365125"/>
            <a:ext cx="8382000" cy="610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72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6213B-4F30-5276-C201-1C140F3E9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9670" cy="1325563"/>
          </a:xfrm>
        </p:spPr>
        <p:txBody>
          <a:bodyPr/>
          <a:lstStyle/>
          <a:p>
            <a:r>
              <a:rPr lang="en-US" altLang="zh-CN" dirty="0"/>
              <a:t>11. </a:t>
            </a:r>
            <a:r>
              <a:rPr lang="zh-CN" altLang="en-US" dirty="0"/>
              <a:t>登录时间点限制 如不能在</a:t>
            </a:r>
            <a:r>
              <a:rPr lang="en-US" altLang="zh-CN" dirty="0"/>
              <a:t>20</a:t>
            </a:r>
            <a:r>
              <a:rPr lang="zh-CN" altLang="en-US" dirty="0"/>
              <a:t>：</a:t>
            </a:r>
            <a:r>
              <a:rPr lang="en-US" altLang="zh-CN" dirty="0"/>
              <a:t>00-9</a:t>
            </a:r>
            <a:r>
              <a:rPr lang="zh-CN" altLang="en-US" dirty="0"/>
              <a:t>：</a:t>
            </a:r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8C902-4FFC-A365-28D6-AA06BE0F5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在登录</a:t>
            </a:r>
            <a:r>
              <a:rPr lang="en-US" altLang="zh-CN" dirty="0"/>
              <a:t>Servlet</a:t>
            </a:r>
            <a:r>
              <a:rPr lang="zh-CN" altLang="en-US" dirty="0"/>
              <a:t>中获取当前时间。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使用</a:t>
            </a:r>
            <a:r>
              <a:rPr lang="en-US" altLang="zh-CN" dirty="0"/>
              <a:t>Java</a:t>
            </a:r>
            <a:r>
              <a:rPr lang="zh-CN" altLang="en-US" dirty="0"/>
              <a:t>中的</a:t>
            </a:r>
            <a:r>
              <a:rPr lang="en-US" altLang="zh-CN" dirty="0"/>
              <a:t>Calendar</a:t>
            </a:r>
            <a:r>
              <a:rPr lang="zh-CN" altLang="en-US" dirty="0"/>
              <a:t>类来比较当前时间是否在</a:t>
            </a:r>
            <a:r>
              <a:rPr lang="en-US" altLang="zh-CN" dirty="0"/>
              <a:t>20:00 - 9:00</a:t>
            </a:r>
            <a:r>
              <a:rPr lang="zh-CN" altLang="en-US" dirty="0"/>
              <a:t>之间。</a:t>
            </a:r>
            <a:r>
              <a:rPr lang="en-US" altLang="zh-CN" dirty="0"/>
              <a:t>3.</a:t>
            </a:r>
            <a:r>
              <a:rPr lang="zh-CN" altLang="en-US" dirty="0"/>
              <a:t>如果当前时间不在限制时间范围内，则返回错误消息。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如果当前时间在限制时间范围内，则执行正常的登录操作。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9C07DB-F218-3990-3F79-A8B97691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42" y="4001294"/>
            <a:ext cx="11528716" cy="235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51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51244-A9F7-0184-5EAB-C31F2D85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12.</a:t>
            </a:r>
            <a:r>
              <a:rPr lang="zh-CN" altLang="en-US" dirty="0"/>
              <a:t>密码设置时，对简单密码，与旧密码相同等不让设置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9FB0D6-0285-8C92-1D62-263F4B876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前端使用使用正则表达式，对用户注册时的密码进行一定限制</a:t>
            </a:r>
            <a:endParaRPr lang="en-US" altLang="zh-CN" dirty="0"/>
          </a:p>
          <a:p>
            <a:pPr marL="514350" indent="-51435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             // </a:t>
            </a:r>
            <a:r>
              <a:rPr lang="zh-CN" altLang="en-US" dirty="0"/>
              <a:t>定义密码格式的正则表达式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                           </a:t>
            </a:r>
            <a:r>
              <a:rPr lang="en-US" altLang="zh-CN" dirty="0"/>
              <a:t>const </a:t>
            </a:r>
            <a:r>
              <a:rPr lang="en-US" altLang="zh-CN" dirty="0" err="1"/>
              <a:t>passwordPattern</a:t>
            </a:r>
            <a:r>
              <a:rPr lang="en-US" altLang="zh-CN" dirty="0"/>
              <a:t> = /^[a-zA-Z0-9]+$/;</a:t>
            </a:r>
          </a:p>
          <a:p>
            <a:pPr marL="0" indent="0">
              <a:buNone/>
            </a:pPr>
            <a:r>
              <a:rPr lang="en-US" altLang="zh-CN" dirty="0"/>
              <a:t>                                    </a:t>
            </a:r>
            <a:r>
              <a:rPr lang="zh-CN" altLang="en-US" dirty="0"/>
              <a:t>使用</a:t>
            </a:r>
            <a:r>
              <a:rPr lang="en-US" altLang="zh-CN" dirty="0" err="1"/>
              <a:t>passwordPattern.test</a:t>
            </a:r>
            <a:r>
              <a:rPr lang="zh-CN" altLang="en-US" dirty="0"/>
              <a:t>即可测试密码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4125FA0-B38B-E7A0-392A-7C30DC769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6516" y="2227188"/>
            <a:ext cx="5680464" cy="463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44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C347D2-2D3D-3F1E-C5CA-941FC1D8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13. </a:t>
            </a:r>
            <a:r>
              <a:rPr lang="zh-CN" altLang="en-US" dirty="0"/>
              <a:t>单点登录（未实现）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BB873A-C947-7125-06ED-0C1B7AD44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没有思路</a:t>
            </a:r>
          </a:p>
        </p:txBody>
      </p:sp>
    </p:spTree>
    <p:extLst>
      <p:ext uri="{BB962C8B-B14F-4D97-AF65-F5344CB8AC3E}">
        <p14:creationId xmlns:p14="http://schemas.microsoft.com/office/powerpoint/2010/main" val="1726615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75671-4478-FF89-602A-9DDE97FC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</a:t>
            </a:r>
            <a:r>
              <a:rPr lang="zh-CN" altLang="en-US" dirty="0"/>
              <a:t>用户 分级，不同用户对应不同菜单界面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0AE8FB-2B87-88B3-4DC3-77BD5CCAA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通过用户数据库</a:t>
            </a:r>
            <a:r>
              <a:rPr lang="en-US" altLang="zh-CN" dirty="0"/>
              <a:t>id</a:t>
            </a:r>
            <a:r>
              <a:rPr lang="zh-CN" altLang="en-US" dirty="0"/>
              <a:t>来区分用户权限，当</a:t>
            </a:r>
            <a:r>
              <a:rPr lang="en-US" altLang="zh-CN" dirty="0"/>
              <a:t>id</a:t>
            </a:r>
            <a:r>
              <a:rPr lang="zh-CN" altLang="en-US" dirty="0"/>
              <a:t>未为</a:t>
            </a:r>
            <a:r>
              <a:rPr lang="en-US" altLang="zh-CN" dirty="0"/>
              <a:t>0</a:t>
            </a:r>
            <a:r>
              <a:rPr lang="zh-CN" altLang="en-US" dirty="0"/>
              <a:t>时，显示</a:t>
            </a:r>
            <a:r>
              <a:rPr lang="en-US" altLang="zh-CN" dirty="0"/>
              <a:t>root</a:t>
            </a:r>
            <a:r>
              <a:rPr lang="zh-CN" altLang="en-US" dirty="0"/>
              <a:t>用户界面，反之显示普通用户界面</a:t>
            </a:r>
          </a:p>
        </p:txBody>
      </p:sp>
    </p:spTree>
    <p:extLst>
      <p:ext uri="{BB962C8B-B14F-4D97-AF65-F5344CB8AC3E}">
        <p14:creationId xmlns:p14="http://schemas.microsoft.com/office/powerpoint/2010/main" val="1348735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D4003DB-434E-C867-D617-FFDFE9F0CD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016" y="501132"/>
            <a:ext cx="10061968" cy="585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47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57CD9-2F9D-AC25-3659-6BC513B2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38615A-6874-4C59-878A-907FBD436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64C5CE-539A-058B-223D-06DF3E52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0"/>
            <a:ext cx="12160875" cy="590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316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9AFA4-8C75-447E-E3ED-4FE98807C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1A8F87-81BE-4446-932B-5B6A854E5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3C65D7-4A08-07D2-35D2-A310CC3C3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1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1BC28-0261-EC34-68E2-D802D4FA3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18B14-3804-E71E-D118-BCC793B66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A0144D-AF79-B8AA-F720-821FAF8FF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" y="0"/>
            <a:ext cx="12173576" cy="572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71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1A3900-0E6A-B35A-932B-2665D801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53FF4C-942B-3469-CAED-2222396B3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5AFB6B-2C79-B500-C637-21FCD3BA0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54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440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E36E9-63A3-2274-B7AA-9499C8CA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2EE57B-177D-5775-EA37-8F962CE47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101755-4942-6BF2-18BD-69A41DEA5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99" y="0"/>
            <a:ext cx="12006901" cy="514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513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D93F9F-94DD-AD3A-F972-19EE7148A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8FFF9B-6AB5-06AD-72E4-DD1B7D727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E21323-DA9F-30A6-DD34-EDF53CC79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4" y="0"/>
            <a:ext cx="12179926" cy="5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469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4F97F-DC4F-F68F-FE46-4E5DEAC68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890E23-C2D7-DCFA-D5B6-CEB22173E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C0481F-5778-E85E-E532-8E9605AA4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" y="0"/>
            <a:ext cx="12186276" cy="589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01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7A3AD2-0F20-256C-F752-DB900382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F1435-1559-FC65-C399-FD3816BD2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9B65B3-7663-AF86-B93F-17CE1C89A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65" y="0"/>
            <a:ext cx="12192000" cy="58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60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1560</Words>
  <Application>Microsoft Office PowerPoint</Application>
  <PresentationFormat>宽屏</PresentationFormat>
  <Paragraphs>154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4" baseType="lpstr">
      <vt:lpstr>ui-monospace</vt:lpstr>
      <vt:lpstr>等线</vt:lpstr>
      <vt:lpstr>等线 Light</vt:lpstr>
      <vt:lpstr>Arial</vt:lpstr>
      <vt:lpstr>Times New Roman</vt:lpstr>
      <vt:lpstr>Office 主题​​</vt:lpstr>
      <vt:lpstr>网络安全课设答辩</vt:lpstr>
      <vt:lpstr>需求列表</vt:lpstr>
      <vt:lpstr>PowerPoint 演示文稿</vt:lpstr>
      <vt:lpstr>PowerPoint 演示文稿</vt:lpstr>
      <vt:lpstr>2. 分布式缓存 (未做)</vt:lpstr>
      <vt:lpstr>PowerPoint 演示文稿</vt:lpstr>
      <vt:lpstr>3. 前端登录对密码进行非对称数据加密，防止中间网络窃取 </vt:lpstr>
      <vt:lpstr>PowerPoint 演示文稿</vt:lpstr>
      <vt:lpstr>PowerPoint 演示文稿</vt:lpstr>
      <vt:lpstr>PowerPoint 演示文稿</vt:lpstr>
      <vt:lpstr>4. IP 登录密码错误次数限制，冻结某个 IP 登录时间(数据库)</vt:lpstr>
      <vt:lpstr>PowerPoint 演示文稿</vt:lpstr>
      <vt:lpstr>PowerPoint 演示文稿</vt:lpstr>
      <vt:lpstr>PowerPoint 演示文稿</vt:lpstr>
      <vt:lpstr>PowerPoint 演示文稿</vt:lpstr>
      <vt:lpstr>5. 密码失效时长配置，失效后续重新设置新的密码</vt:lpstr>
      <vt:lpstr>PowerPoint 演示文稿</vt:lpstr>
      <vt:lpstr>6.账号登录密码次数错误，冻结时间设置</vt:lpstr>
      <vt:lpstr>7,8,15. 用户登录信息，用户操作信息日志</vt:lpstr>
      <vt:lpstr>PowerPoint 演示文稿</vt:lpstr>
      <vt:lpstr>PowerPoint 演示文稿</vt:lpstr>
      <vt:lpstr>PowerPoint 演示文稿</vt:lpstr>
      <vt:lpstr>9.后台允许登录的 IP 白名单配置（未实装）</vt:lpstr>
      <vt:lpstr>10.登录后，闲置固定时间（可配置）自动退出（未实现）</vt:lpstr>
      <vt:lpstr>PowerPoint 演示文稿</vt:lpstr>
      <vt:lpstr>11. 登录时间点限制 如不能在20：00-9：00</vt:lpstr>
      <vt:lpstr>12.密码设置时，对简单密码，与旧密码相同等不让设置</vt:lpstr>
      <vt:lpstr>13. 单点登录（未实现）</vt:lpstr>
      <vt:lpstr>14.用户 分级，不同用户对应不同菜单界面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网络安全课设答辩</dc:title>
  <dc:creator>Larry dodamce</dc:creator>
  <cp:lastModifiedBy>Larry dodamce</cp:lastModifiedBy>
  <cp:revision>26</cp:revision>
  <dcterms:created xsi:type="dcterms:W3CDTF">2023-05-11T06:56:10Z</dcterms:created>
  <dcterms:modified xsi:type="dcterms:W3CDTF">2023-05-11T14:11:21Z</dcterms:modified>
</cp:coreProperties>
</file>